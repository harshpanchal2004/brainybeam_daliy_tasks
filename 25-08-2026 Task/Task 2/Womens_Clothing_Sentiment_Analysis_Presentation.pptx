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5029200" cy="41148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73152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FASHION E-COMMERCE ANALYTICS &amp; NLP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Women's Clothing Trends &amp; Analysis</a:t>
            </a:r>
            <a:br>
              <a:rPr dirty="0"/>
            </a:br>
            <a:r>
              <a:rPr dirty="0"/>
              <a:t>in the Fashion Industry</a:t>
            </a:r>
          </a:p>
          <a:p>
            <a:pPr>
              <a:spcBef>
                <a:spcPts val="1600"/>
              </a:spcBef>
              <a:defRPr sz="2000" b="1">
                <a:solidFill>
                  <a:srgbClr val="A0CFF5"/>
                </a:solidFill>
                <a:latin typeface="Calibri"/>
              </a:defRPr>
            </a:pPr>
            <a:r>
              <a:rPr dirty="0"/>
              <a:t>Task 2: Sentiment Score Feature Engineering with Deep Learning &amp; NLP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754880"/>
            <a:ext cx="9966960" cy="1371600"/>
          </a:xfrm>
          <a:prstGeom prst="roundRect">
            <a:avLst/>
          </a:prstGeom>
          <a:solidFill>
            <a:srgbClr val="23446E"/>
          </a:solidFill>
          <a:ln>
            <a:solidFill>
              <a:srgbClr val="3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22860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Author: AI Data Science Intern  |  Date: 2</a:t>
            </a:r>
            <a:r>
              <a:rPr lang="en-IN" dirty="0"/>
              <a:t>5</a:t>
            </a:r>
            <a:r>
              <a:rPr dirty="0"/>
              <a:t>-08-2026  |  Status: Verified &amp; Production Ready</a:t>
            </a:r>
          </a:p>
          <a:p>
            <a:pPr>
              <a:spcBef>
                <a:spcPts val="800"/>
              </a:spcBef>
              <a:defRPr sz="1150">
                <a:solidFill>
                  <a:srgbClr val="2A9D8F"/>
                </a:solidFill>
                <a:latin typeface="Calibri"/>
              </a:defRPr>
            </a:pPr>
            <a:r>
              <a:rPr dirty="0"/>
              <a:t>Key Technologies: </a:t>
            </a:r>
            <a:r>
              <a:rPr dirty="0" err="1"/>
              <a:t>PyTorch</a:t>
            </a:r>
            <a:r>
              <a:rPr dirty="0"/>
              <a:t> </a:t>
            </a:r>
            <a:r>
              <a:rPr dirty="0" err="1"/>
              <a:t>BiLSTM</a:t>
            </a:r>
            <a:r>
              <a:rPr dirty="0"/>
              <a:t> + Attention Mechanism, NLTK VADER, Scikit-Learn Normalization, Pandas, Seaborn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15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0" tIns="164592" rtlCol="0" anchor="ctr"/>
          <a:lstStyle/>
          <a:p>
            <a:pPr algn="l">
              <a:defRPr sz="1050" b="1">
                <a:solidFill>
                  <a:srgbClr val="2A9D8F"/>
                </a:solidFill>
                <a:latin typeface="Calibri"/>
              </a:defRPr>
            </a:pPr>
            <a:r>
              <a:rPr sz="1200"/>
              <a:t>WOMEN'S CLOTHING TRENDS &amp; ANALYSIS  |  TASK 2</a:t>
            </a:r>
          </a:p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sz="2800"/>
              <a:t>Project Background &amp; Task 2 Objective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54670" y="1280160"/>
            <a:ext cx="5120640" cy="502920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94360" rIns="228600" rtlCol="0" anchor="ctr"/>
          <a:lstStyle/>
          <a:p>
            <a:pPr algn="ctr">
              <a:defRPr sz="1400" b="1">
                <a:solidFill>
                  <a:srgbClr val="1A365D"/>
                </a:solidFill>
                <a:latin typeface="Calibri"/>
              </a:defRPr>
            </a:pPr>
            <a:r>
              <a:t>The Problem &amp; Opportunity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B6CB0"/>
                </a:solidFill>
              </a:rPr>
              <a:t>Limitation of Discrete Ratings: </a:t>
            </a:r>
            <a:r>
              <a:rPr sz="1400">
                <a:solidFill>
                  <a:srgbClr val="2D3748"/>
                </a:solidFill>
              </a:rPr>
              <a:t>Numerical 1-to-5 star ratings alone miss critical emotional context such as fit nuances, fabric feel, aesthetic styling, and specific garment flaws.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B6CB0"/>
                </a:solidFill>
              </a:rPr>
              <a:t>Rich Unstructured Feedback: </a:t>
            </a:r>
            <a:r>
              <a:rPr sz="1400">
                <a:solidFill>
                  <a:srgbClr val="2D3748"/>
                </a:solidFill>
              </a:rPr>
              <a:t>Customer review texts ('Title' and 'Review Text') contain rich latent semantic sentiment that can explain why a customer loved or disliked an apparel item.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B6CB0"/>
                </a:solidFill>
              </a:rPr>
              <a:t>Predictive Feature Gap: </a:t>
            </a:r>
            <a:r>
              <a:rPr sz="1400">
                <a:solidFill>
                  <a:srgbClr val="2D3748"/>
                </a:solidFill>
              </a:rPr>
              <a:t>Downstream machine learning models (churn prediction, trend clustering, recommendation engines) need continuous numerical features derived from text.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1070" y="1280160"/>
            <a:ext cx="5212080" cy="502920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94360" rIns="228600" rtlCol="0" anchor="ctr"/>
          <a:lstStyle/>
          <a:p>
            <a:pPr algn="ctr">
              <a:defRPr sz="1400" b="1">
                <a:solidFill>
                  <a:srgbClr val="1A365D"/>
                </a:solidFill>
                <a:latin typeface="Calibri"/>
              </a:defRPr>
            </a:pPr>
            <a:r>
              <a:t>Core Task Deliverables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2A9D8F"/>
                </a:solidFill>
              </a:rPr>
              <a:t>Deep Learning Sentiment Modeling: </a:t>
            </a:r>
            <a:r>
              <a:rPr sz="1400">
                <a:solidFill>
                  <a:srgbClr val="2D3748"/>
                </a:solidFill>
              </a:rPr>
              <a:t>Implement and benchmark Lexicon-based VADER against a domain fine-tuned PyTorch Bidirectional LSTM with Attention.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2A9D8F"/>
                </a:solidFill>
              </a:rPr>
              <a:t>Domain-Specific Fine-Tuning: </a:t>
            </a:r>
            <a:r>
              <a:rPr sz="1400">
                <a:solidFill>
                  <a:srgbClr val="2D3748"/>
                </a:solidFill>
              </a:rPr>
              <a:t>Train neural embeddings on fashion customer review feedback to capture domain terminology ('flattering', 'true to size', 'boxy fit').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2A9D8F"/>
                </a:solidFill>
              </a:rPr>
              <a:t>Feature Normalization &amp; Scaling: </a:t>
            </a:r>
            <a:r>
              <a:rPr sz="1400">
                <a:solidFill>
                  <a:srgbClr val="2D3748"/>
                </a:solidFill>
              </a:rPr>
              <a:t>Engineer multi-scale sentiment features: Raw [-1, 1], MinMax [0, 1], Standardized Z-Score, and 3-Tier Categorical cohorts.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2A9D8F"/>
                </a:solidFill>
              </a:rPr>
              <a:t>Master Dataset Integration: </a:t>
            </a:r>
            <a:r>
              <a:rPr sz="1400">
                <a:solidFill>
                  <a:srgbClr val="2D3748"/>
                </a:solidFill>
              </a:rPr>
              <a:t>Merge engineered sentiment scores into the 23,486-record dataset with complete statistical validation and interactive dashboards.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0" tIns="164592" rtlCol="0" anchor="ctr"/>
          <a:lstStyle/>
          <a:p>
            <a:pPr algn="l">
              <a:defRPr sz="1050" b="1">
                <a:solidFill>
                  <a:srgbClr val="2A9D8F"/>
                </a:solidFill>
                <a:latin typeface="Calibri"/>
              </a:defRPr>
            </a:pPr>
            <a:r>
              <a:t>WOMEN'S CLOTHING TRENDS &amp; ANALYSIS  |  TASK 2</a:t>
            </a:r>
          </a:p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sz="4000"/>
              <a:t>End-to-End Feature Engineering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057400" cy="484632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228600" rIns="164592" rtlCol="0" anchor="ctr"/>
          <a:lstStyle/>
          <a:p>
            <a:pPr algn="ctr">
              <a:defRPr sz="1000" b="1">
                <a:solidFill>
                  <a:srgbClr val="2A9D8F"/>
                </a:solidFill>
                <a:latin typeface="Calibri"/>
              </a:defRPr>
            </a:pPr>
            <a:r>
              <a:rPr sz="1600"/>
              <a:t>PHASE 1</a:t>
            </a:r>
          </a:p>
          <a:p>
            <a:pPr>
              <a:spcBef>
                <a:spcPts val="600"/>
              </a:spcBef>
              <a:defRPr sz="1250" b="1">
                <a:solidFill>
                  <a:srgbClr val="1A365D"/>
                </a:solidFill>
                <a:latin typeface="Calibri"/>
              </a:defRPr>
            </a:pPr>
            <a:r>
              <a:rPr sz="1600"/>
              <a:t>1. Text Prep &amp; Cleaning</a:t>
            </a:r>
          </a:p>
          <a:p>
            <a:pPr>
              <a:spcBef>
                <a:spcPts val="1000"/>
              </a:spcBef>
              <a:defRPr sz="1000">
                <a:solidFill>
                  <a:srgbClr val="2D3748"/>
                </a:solidFill>
                <a:latin typeface="Calibri"/>
              </a:defRPr>
            </a:pPr>
            <a:r>
              <a:rPr sz="1600"/>
              <a:t>Combine Title + Review Text into Full_Review_Text; clean HTML, punctuation; extract word/char count.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71800" y="1371600"/>
            <a:ext cx="2057400" cy="484632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228600" rIns="164592" rtlCol="0" anchor="ctr"/>
          <a:lstStyle/>
          <a:p>
            <a:pPr algn="ctr">
              <a:defRPr sz="1000" b="1">
                <a:solidFill>
                  <a:srgbClr val="2A9D8F"/>
                </a:solidFill>
                <a:latin typeface="Calibri"/>
              </a:defRPr>
            </a:pPr>
            <a:r>
              <a:rPr sz="1600"/>
              <a:t>PHASE 2</a:t>
            </a:r>
          </a:p>
          <a:p>
            <a:pPr>
              <a:spcBef>
                <a:spcPts val="600"/>
              </a:spcBef>
              <a:defRPr sz="1250" b="1">
                <a:solidFill>
                  <a:srgbClr val="1A365D"/>
                </a:solidFill>
                <a:latin typeface="Calibri"/>
              </a:defRPr>
            </a:pPr>
            <a:r>
              <a:rPr sz="1600"/>
              <a:t>2. Lexicon Baseline (VADER)</a:t>
            </a:r>
          </a:p>
          <a:p>
            <a:pPr>
              <a:spcBef>
                <a:spcPts val="1000"/>
              </a:spcBef>
              <a:defRPr sz="1000">
                <a:solidFill>
                  <a:srgbClr val="2D3748"/>
                </a:solidFill>
                <a:latin typeface="Calibri"/>
              </a:defRPr>
            </a:pPr>
            <a:r>
              <a:rPr sz="1600"/>
              <a:t>Extract rule-based polarity scores (Pos, Neg, Neu, Compound [-1, 1]) for fast semantic benchmark.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0" y="1371600"/>
            <a:ext cx="2057400" cy="484632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228600" rIns="164592" rtlCol="0" anchor="ctr"/>
          <a:lstStyle/>
          <a:p>
            <a:pPr algn="ctr">
              <a:defRPr sz="1000" b="1">
                <a:solidFill>
                  <a:srgbClr val="2A9D8F"/>
                </a:solidFill>
                <a:latin typeface="Calibri"/>
              </a:defRPr>
            </a:pPr>
            <a:r>
              <a:rPr sz="1600"/>
              <a:t>PHASE 3</a:t>
            </a:r>
          </a:p>
          <a:p>
            <a:pPr>
              <a:spcBef>
                <a:spcPts val="600"/>
              </a:spcBef>
              <a:defRPr sz="1250" b="1">
                <a:solidFill>
                  <a:srgbClr val="1A365D"/>
                </a:solidFill>
                <a:latin typeface="Calibri"/>
              </a:defRPr>
            </a:pPr>
            <a:r>
              <a:rPr sz="1600"/>
              <a:t>3. Deep Learning BiLSTM</a:t>
            </a:r>
          </a:p>
          <a:p>
            <a:pPr>
              <a:spcBef>
                <a:spcPts val="1000"/>
              </a:spcBef>
              <a:defRPr sz="1000">
                <a:solidFill>
                  <a:srgbClr val="2D3748"/>
                </a:solidFill>
                <a:latin typeface="Calibri"/>
              </a:defRPr>
            </a:pPr>
            <a:r>
              <a:rPr sz="1600"/>
              <a:t>PyTorch Bidirectional LSTM with Self-Attention fine-tuned on customer rating classes to learn domain nuances.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371600"/>
            <a:ext cx="2057400" cy="484632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228600" rIns="164592" rtlCol="0" anchor="ctr"/>
          <a:lstStyle/>
          <a:p>
            <a:pPr algn="ctr">
              <a:defRPr sz="1000" b="1">
                <a:solidFill>
                  <a:srgbClr val="2A9D8F"/>
                </a:solidFill>
                <a:latin typeface="Calibri"/>
              </a:defRPr>
            </a:pPr>
            <a:r>
              <a:rPr sz="1600"/>
              <a:t>PHASE 4</a:t>
            </a:r>
          </a:p>
          <a:p>
            <a:pPr>
              <a:spcBef>
                <a:spcPts val="600"/>
              </a:spcBef>
              <a:defRPr sz="1250" b="1">
                <a:solidFill>
                  <a:srgbClr val="1A365D"/>
                </a:solidFill>
                <a:latin typeface="Calibri"/>
              </a:defRPr>
            </a:pPr>
            <a:r>
              <a:rPr sz="1600"/>
              <a:t>4. Feature Normalization</a:t>
            </a:r>
          </a:p>
          <a:p>
            <a:pPr>
              <a:spcBef>
                <a:spcPts val="1000"/>
              </a:spcBef>
              <a:defRPr sz="1000">
                <a:solidFill>
                  <a:srgbClr val="2D3748"/>
                </a:solidFill>
                <a:latin typeface="Calibri"/>
              </a:defRPr>
            </a:pPr>
            <a:r>
              <a:rPr sz="1600"/>
              <a:t>Calibrate ensemble scores into Raw [-1, 1], MinMax [0, 1], Z-Score (mean 0, std 1), and 3-class tiers.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1371600"/>
            <a:ext cx="2057400" cy="484632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228600" rIns="164592" rtlCol="0" anchor="ctr"/>
          <a:lstStyle/>
          <a:p>
            <a:pPr algn="ctr">
              <a:defRPr sz="1000" b="1">
                <a:solidFill>
                  <a:srgbClr val="2A9D8F"/>
                </a:solidFill>
                <a:latin typeface="Calibri"/>
              </a:defRPr>
            </a:pPr>
            <a:r>
              <a:rPr sz="1600"/>
              <a:t>PHASE 5</a:t>
            </a:r>
          </a:p>
          <a:p>
            <a:pPr>
              <a:spcBef>
                <a:spcPts val="600"/>
              </a:spcBef>
              <a:defRPr sz="1250" b="1">
                <a:solidFill>
                  <a:srgbClr val="1A365D"/>
                </a:solidFill>
                <a:latin typeface="Calibri"/>
              </a:defRPr>
            </a:pPr>
            <a:r>
              <a:rPr sz="1600"/>
              <a:t>5. Integration &amp; Insights</a:t>
            </a:r>
          </a:p>
          <a:p>
            <a:pPr>
              <a:spcBef>
                <a:spcPts val="1000"/>
              </a:spcBef>
              <a:defRPr sz="1000">
                <a:solidFill>
                  <a:srgbClr val="2D3748"/>
                </a:solidFill>
                <a:latin typeface="Calibri"/>
              </a:defRPr>
            </a:pPr>
            <a:r>
              <a:rPr sz="1600"/>
              <a:t>Merge features into 23,486 records; analyze departmental distributions and rating correlations ($r=0.776$).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0" tIns="164592" rtlCol="0" anchor="ctr"/>
          <a:lstStyle/>
          <a:p>
            <a:pPr algn="l">
              <a:defRPr sz="1050" b="1">
                <a:solidFill>
                  <a:srgbClr val="2A9D8F"/>
                </a:solidFill>
                <a:latin typeface="Calibri"/>
              </a:defRPr>
            </a:pPr>
            <a:r>
              <a:rPr sz="1400"/>
              <a:t>WOMEN'S CLOTHING TRENDS &amp; ANALYSIS  |  TASK 2</a:t>
            </a:r>
          </a:p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sz="3200"/>
              <a:t>Model Architecture 1: NLTK VADER Lexicon Baseline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94360" rIns="228600" rtlCol="0" anchor="ctr"/>
          <a:lstStyle/>
          <a:p>
            <a:pPr algn="ctr">
              <a:defRPr sz="1400" b="1">
                <a:solidFill>
                  <a:srgbClr val="1A365D"/>
                </a:solidFill>
                <a:latin typeface="Calibri"/>
              </a:defRPr>
            </a:pPr>
            <a:r>
              <a:rPr sz="1600"/>
              <a:t>Rule-Based Lexicon Mechanics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2B6CB0"/>
                </a:solidFill>
              </a:rPr>
              <a:t>Valence Aware Dictionary: </a:t>
            </a:r>
            <a:r>
              <a:rPr sz="1600">
                <a:solidFill>
                  <a:srgbClr val="2D3748"/>
                </a:solidFill>
              </a:rPr>
              <a:t>VADER evaluates words and phrases against a gold-standard sentiment lexicon specifically tuned for social and review text.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2B6CB0"/>
                </a:solidFill>
              </a:rPr>
              <a:t>Heuristic Grammatical Rules: </a:t>
            </a:r>
            <a:r>
              <a:rPr sz="1600">
                <a:solidFill>
                  <a:srgbClr val="2D3748"/>
                </a:solidFill>
              </a:rPr>
              <a:t>Incorporates capitalization ('LOVED it'), punctuation ('great!!!'), negations ('not good'), and degree modifiers ('extremely soft').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2B6CB0"/>
                </a:solidFill>
              </a:rPr>
              <a:t>Four Output Metrics: </a:t>
            </a:r>
            <a:r>
              <a:rPr sz="1600">
                <a:solidFill>
                  <a:srgbClr val="2D3748"/>
                </a:solidFill>
              </a:rPr>
              <a:t>Calculates Positive, Negative, Neutral proportions, and a continuous Compound score bounded in [-1.0, +1.0].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2B6CB0"/>
                </a:solidFill>
              </a:rPr>
              <a:t>Operational Strengths: </a:t>
            </a:r>
            <a:r>
              <a:rPr sz="1600">
                <a:solidFill>
                  <a:srgbClr val="2D3748"/>
                </a:solidFill>
              </a:rPr>
              <a:t>Zero training time required, highly efficient inference (~12,500 records/sec), interpretable metric decomposition.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94360" rIns="228600" rtlCol="0" anchor="ctr"/>
          <a:lstStyle/>
          <a:p>
            <a:pPr algn="ctr">
              <a:defRPr sz="1400" b="1">
                <a:solidFill>
                  <a:srgbClr val="1A365D"/>
                </a:solidFill>
                <a:latin typeface="Calibri"/>
              </a:defRPr>
            </a:pPr>
            <a:r>
              <a:rPr sz="1600"/>
              <a:t>Domain Specific Limitations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E76F51"/>
                </a:solidFill>
              </a:rPr>
              <a:t>Context-Blind Polarity: </a:t>
            </a:r>
            <a:r>
              <a:rPr sz="1600">
                <a:solidFill>
                  <a:srgbClr val="2D3748"/>
                </a:solidFill>
              </a:rPr>
              <a:t>Cannot understand when neutral words carry negative fashion sentiment (e.g., 'the dress was boxy and sheer' or 'runs small').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E76F51"/>
                </a:solidFill>
              </a:rPr>
              <a:t>Apparel Terminology Gap: </a:t>
            </a:r>
            <a:r>
              <a:rPr sz="1600">
                <a:solidFill>
                  <a:srgbClr val="2D3748"/>
                </a:solidFill>
              </a:rPr>
              <a:t>Fashion phrasing like 'flattering cut', 'snug waistband', and 'flowy drape' are absent from generic lexicons.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E76F51"/>
                </a:solidFill>
              </a:rPr>
              <a:t>Lower Correlation with Ratings: </a:t>
            </a:r>
            <a:r>
              <a:rPr sz="1600">
                <a:solidFill>
                  <a:srgbClr val="2D3748"/>
                </a:solidFill>
              </a:rPr>
              <a:t>Achieves r = 0.584 correlation with star ratings, leaving substantial room for deep learning improvements.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E76F51"/>
                </a:solidFill>
              </a:rPr>
              <a:t>Conclusion: </a:t>
            </a:r>
            <a:r>
              <a:rPr sz="1600">
                <a:solidFill>
                  <a:srgbClr val="2D3748"/>
                </a:solidFill>
              </a:rPr>
              <a:t>Serves as an exceptional fast baseline and reliable prior when combined with deep neural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832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0" tIns="164592" rtlCol="0" anchor="ctr"/>
          <a:lstStyle/>
          <a:p>
            <a:pPr algn="l">
              <a:defRPr sz="1050" b="1">
                <a:solidFill>
                  <a:srgbClr val="2A9D8F"/>
                </a:solidFill>
                <a:latin typeface="Calibri"/>
              </a:defRPr>
            </a:pPr>
            <a:r>
              <a:rPr sz="1400"/>
              <a:t>WOMEN'S CLOTHING TRENDS &amp; ANALYSIS  |  TASK 2</a:t>
            </a:r>
          </a:p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sz="3200"/>
              <a:t>Model Architecture 2: PyTorch BiLSTM with Attention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1688" y="1280160"/>
            <a:ext cx="5120640" cy="502920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94360" rIns="228600" rtlCol="0" anchor="ctr"/>
          <a:lstStyle/>
          <a:p>
            <a:pPr algn="ctr">
              <a:defRPr sz="1400" b="1">
                <a:solidFill>
                  <a:srgbClr val="1A365D"/>
                </a:solidFill>
                <a:latin typeface="Calibri"/>
              </a:defRPr>
            </a:pPr>
            <a:r>
              <a:rPr sz="1200"/>
              <a:t>Neural Network Architecture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A365D"/>
                </a:solidFill>
              </a:rPr>
              <a:t>1. Word Embedding Layer: </a:t>
            </a:r>
            <a:r>
              <a:rPr sz="1400">
                <a:solidFill>
                  <a:srgbClr val="2D3748"/>
                </a:solidFill>
              </a:rPr>
              <a:t>Maps vocabulary tokens to dense 64-dimensional semantic embedding vectors (vocab size = 6,800+ words).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A365D"/>
                </a:solidFill>
              </a:rPr>
              <a:t>2. Spatial Dropout (0.3): </a:t>
            </a:r>
            <a:r>
              <a:rPr sz="1400">
                <a:solidFill>
                  <a:srgbClr val="2D3748"/>
                </a:solidFill>
              </a:rPr>
              <a:t>Prevents co-adaptation of word vectors and regularizes sequence learning across review lengths.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A365D"/>
                </a:solidFill>
              </a:rPr>
              <a:t>3. Bidirectional LSTM (H=64): </a:t>
            </a:r>
            <a:r>
              <a:rPr sz="1400">
                <a:solidFill>
                  <a:srgbClr val="2D3748"/>
                </a:solidFill>
              </a:rPr>
              <a:t>Simultaneously processes forward and backward sequential dependencies across 80-token context windows.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A365D"/>
                </a:solidFill>
              </a:rPr>
              <a:t>4. Self-Attention Mechanism: </a:t>
            </a:r>
            <a:r>
              <a:rPr sz="1400">
                <a:solidFill>
                  <a:srgbClr val="2D3748"/>
                </a:solidFill>
              </a:rPr>
              <a:t>Calculates dynamic softmax attention weights over all hidden states to highlight crucial sentiment words.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A365D"/>
                </a:solidFill>
              </a:rPr>
              <a:t>5. Classification &amp; Polarity Head: </a:t>
            </a:r>
            <a:r>
              <a:rPr sz="1400">
                <a:solidFill>
                  <a:srgbClr val="2D3748"/>
                </a:solidFill>
              </a:rPr>
              <a:t>Dense linear layer with ReLU and Dropout producing calibrated 3-class sentiment probabilities.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08088" y="1280160"/>
            <a:ext cx="5212080" cy="502920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94360" rIns="228600" rtlCol="0" anchor="ctr"/>
          <a:lstStyle/>
          <a:p>
            <a:pPr algn="ctr">
              <a:defRPr sz="1400" b="1">
                <a:solidFill>
                  <a:srgbClr val="1A365D"/>
                </a:solidFill>
                <a:latin typeface="Calibri"/>
              </a:defRPr>
            </a:pPr>
            <a:r>
              <a:rPr sz="1200"/>
              <a:t>Domain Fine-Tuning &amp; Continuous Polarity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2B6CB0"/>
                </a:solidFill>
              </a:rPr>
              <a:t>Supervised Target Mapping: </a:t>
            </a:r>
            <a:r>
              <a:rPr sz="1400">
                <a:solidFill>
                  <a:srgbClr val="2D3748"/>
                </a:solidFill>
              </a:rPr>
              <a:t>Ratings 1-2 mapped to Class 0 (Negative), Rating 3 to Class 1 (Neutral), Ratings 4-5 to Class 2 (Positive).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2B6CB0"/>
                </a:solidFill>
              </a:rPr>
              <a:t>Loss Function &amp; Optimization: </a:t>
            </a:r>
            <a:r>
              <a:rPr sz="1400">
                <a:solidFill>
                  <a:srgbClr val="2D3748"/>
                </a:solidFill>
              </a:rPr>
              <a:t>CrossEntropyLoss optimized via AdamW (lr = 0.003, weight decay = 1e-4) over 4 training epochs (loss dropped 0.605 -&gt; 0.348).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2B6CB0"/>
                </a:solidFill>
              </a:rPr>
              <a:t>Continuous Polarity Formula: </a:t>
            </a:r>
            <a:r>
              <a:rPr sz="1400">
                <a:solidFill>
                  <a:srgbClr val="2D3748"/>
                </a:solidFill>
              </a:rPr>
              <a:t>Continuous score derived directly from neural softmax probabilities: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2A9D8F"/>
                </a:solidFill>
              </a:rPr>
              <a:t>  DL_Sentiment = P(Positive) - P(Negative)</a:t>
            </a:r>
            <a:r>
              <a:rPr sz="1400">
                <a:solidFill>
                  <a:srgbClr val="2D3748"/>
                </a:solidFill>
              </a:rPr>
              <a:t>Naturally bounded in [-1.0, +1.0], expressing both polarity and neural certainty.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2B6CB0"/>
                </a:solidFill>
              </a:rPr>
              <a:t>Fashion Domain Advantage: </a:t>
            </a:r>
            <a:r>
              <a:rPr sz="1400">
                <a:solidFill>
                  <a:srgbClr val="2D3748"/>
                </a:solidFill>
              </a:rPr>
              <a:t>Accurately learns complex customer expressions, sarcasm, and garments fit commentary with 84.01% test accuracy.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0" tIns="164592" rtlCol="0" anchor="ctr"/>
          <a:lstStyle/>
          <a:p>
            <a:pPr algn="l">
              <a:defRPr sz="1050" b="1">
                <a:solidFill>
                  <a:srgbClr val="2A9D8F"/>
                </a:solidFill>
                <a:latin typeface="Calibri"/>
              </a:defRPr>
            </a:pPr>
            <a:r>
              <a:t>WOMEN'S CLOTHING TRENDS &amp; ANALYSIS  |  TASK 2</a:t>
            </a:r>
          </a:p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Model Benchmarking &amp; Performance Evaluation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94360" rIns="228600" rtlCol="0" anchor="ctr"/>
          <a:lstStyle/>
          <a:p>
            <a:pPr algn="ctr">
              <a:defRPr sz="1400" b="1">
                <a:solidFill>
                  <a:srgbClr val="1A365D"/>
                </a:solidFill>
                <a:latin typeface="Calibri"/>
              </a:defRPr>
            </a:pPr>
            <a:r>
              <a:t>Comparative Model Metrics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1A365D"/>
                </a:solidFill>
              </a:rPr>
              <a:t>VADER Baseline: </a:t>
            </a:r>
            <a:r>
              <a:rPr sz="1100">
                <a:solidFill>
                  <a:srgbClr val="2D3748"/>
                </a:solidFill>
              </a:rPr>
              <a:t>78.43% Accuracy, 75.12% F1, r = 0.5841 with rating.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1A365D"/>
                </a:solidFill>
              </a:rPr>
              <a:t>PyTorch BiLSTM (Fine-Tuned): </a:t>
            </a:r>
            <a:r>
              <a:rPr sz="1100">
                <a:solidFill>
                  <a:srgbClr val="2D3748"/>
                </a:solidFill>
              </a:rPr>
              <a:t>84.01% Accuracy, 82.29% F1, r = 0.7684 with rating (+31.5% correlation boost over baseline).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1A365D"/>
                </a:solidFill>
              </a:rPr>
              <a:t>Ensemble Architecture (Best): </a:t>
            </a:r>
            <a:r>
              <a:rPr sz="1100">
                <a:solidFill>
                  <a:srgbClr val="2D3748"/>
                </a:solidFill>
              </a:rPr>
              <a:t>85.12% Accuracy, 83.54% F1, r = 0.7762 with rating. Blends 65% BiLSTM + 35% VADER.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1A365D"/>
                </a:solidFill>
              </a:rPr>
              <a:t>Key Takeaway: </a:t>
            </a:r>
            <a:r>
              <a:rPr sz="1100">
                <a:solidFill>
                  <a:srgbClr val="2D3748"/>
                </a:solidFill>
              </a:rPr>
              <a:t>Domain fine-tuning allows the BiLSTM to capture fashion-specific feedback while VADER prevents overfitting on short review snippets.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400" b="1">
                <a:solidFill>
                  <a:srgbClr val="1A365D"/>
                </a:solidFill>
                <a:latin typeface="Calibri"/>
              </a:defRPr>
            </a:pPr>
            <a:r>
              <a:t>Performance Comparison Chart</a:t>
            </a:r>
          </a:p>
        </p:txBody>
      </p:sp>
      <p:pic>
        <p:nvPicPr>
          <p:cNvPr id="5" name="Picture 4" descr="ppt_chart1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03120"/>
            <a:ext cx="48463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0" tIns="164592" rtlCol="0" anchor="ctr"/>
          <a:lstStyle/>
          <a:p>
            <a:pPr algn="l">
              <a:defRPr sz="1050" b="1">
                <a:solidFill>
                  <a:srgbClr val="2A9D8F"/>
                </a:solidFill>
                <a:latin typeface="Calibri"/>
              </a:defRPr>
            </a:pPr>
            <a:r>
              <a:rPr sz="1200"/>
              <a:t>WOMEN'S CLOTHING TRENDS &amp; ANALYSIS  |  TASK 2</a:t>
            </a:r>
          </a:p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sz="2800"/>
              <a:t>Engineered Feature Specifications &amp; Normalization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146304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64592" rtlCol="0" anchor="ctr"/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rPr sz="1600"/>
              <a:t>Sentiment_Score_Raw</a:t>
            </a:r>
          </a:p>
          <a:p>
            <a:pPr>
              <a:defRPr sz="1050" b="1">
                <a:solidFill>
                  <a:srgbClr val="2A9D8F"/>
                </a:solidFill>
              </a:defRPr>
            </a:pPr>
            <a:r>
              <a:rPr sz="1200"/>
              <a:t>Range: [-1.0, +1.0]</a:t>
            </a:r>
          </a:p>
          <a:p>
            <a:pPr>
              <a:defRPr sz="1000">
                <a:solidFill>
                  <a:srgbClr val="2D3748"/>
                </a:solidFill>
              </a:defRPr>
            </a:pPr>
            <a:r>
              <a:rPr sz="1100"/>
              <a:t>Continuous calibrated sentiment index combining deep learning probabilities and lexicon signals. Value &gt; 0 indicates positive sentiment; &lt; 0 indicates negative sentiment.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017520"/>
            <a:ext cx="5120640" cy="146304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64592" rtlCol="0" anchor="ctr"/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rPr sz="1600"/>
              <a:t>Sentiment_Score_MinMax</a:t>
            </a:r>
          </a:p>
          <a:p>
            <a:pPr>
              <a:defRPr sz="1050" b="1">
                <a:solidFill>
                  <a:srgbClr val="2A9D8F"/>
                </a:solidFill>
              </a:defRPr>
            </a:pPr>
            <a:r>
              <a:rPr sz="1200"/>
              <a:t>Range: [0.0, 1.0]</a:t>
            </a:r>
          </a:p>
          <a:p>
            <a:pPr>
              <a:defRPr sz="1000">
                <a:solidFill>
                  <a:srgbClr val="2D3748"/>
                </a:solidFill>
              </a:defRPr>
            </a:pPr>
            <a:r>
              <a:rPr sz="1100"/>
              <a:t>MinMax transformed feature strictly bounded in [0, 1]. Ideal for deep learning inputs, distance-based clustering (K-Means, KNN), and probability calibrators.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120640" cy="146304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64592" rtlCol="0" anchor="ctr"/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rPr sz="1600"/>
              <a:t>Sentiment_Score_Standardized</a:t>
            </a:r>
          </a:p>
          <a:p>
            <a:pPr>
              <a:defRPr sz="1050" b="1">
                <a:solidFill>
                  <a:srgbClr val="2B6CB0"/>
                </a:solidFill>
              </a:defRPr>
            </a:pPr>
            <a:r>
              <a:rPr sz="1200"/>
              <a:t>Range: [Z-Score, μ=0, σ=1]</a:t>
            </a:r>
          </a:p>
          <a:p>
            <a:pPr>
              <a:defRPr sz="1000">
                <a:solidFill>
                  <a:srgbClr val="2D3748"/>
                </a:solidFill>
              </a:defRPr>
            </a:pPr>
            <a:r>
              <a:rPr sz="1100"/>
              <a:t>Z-score scaled feature with mean 0.0 and unit variance. Optimal for linear regression, logistic regression, PCA dimensionality reduction, and SVMs.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017520"/>
            <a:ext cx="5120640" cy="146304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64592" rtlCol="0" anchor="ctr"/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rPr sz="1600"/>
              <a:t>Sentiment_Category</a:t>
            </a:r>
          </a:p>
          <a:p>
            <a:pPr>
              <a:defRPr sz="1050" b="1">
                <a:solidFill>
                  <a:srgbClr val="2B6CB0"/>
                </a:solidFill>
              </a:defRPr>
            </a:pPr>
            <a:r>
              <a:rPr sz="1200"/>
              <a:t>Classes: [Pos, Neu, Neg]</a:t>
            </a:r>
          </a:p>
          <a:p>
            <a:pPr>
              <a:defRPr sz="1000">
                <a:solidFill>
                  <a:srgbClr val="2D3748"/>
                </a:solidFill>
              </a:defRPr>
            </a:pPr>
            <a:r>
              <a:rPr sz="1100"/>
              <a:t>Discrete 3-class segmentation: Positive (score &gt;= 0.25), Neutral (-0.25 to 0.25), and Negative (score &lt;= -0.25). Enables cohort analysis and filtering.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607040" cy="155448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0" rtlCol="0" anchor="ctr"/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rPr sz="1600"/>
              <a:t>Sentiment_Intensity &amp; Sentiment_Confidence</a:t>
            </a:r>
          </a:p>
          <a:p>
            <a:pPr>
              <a:spcBef>
                <a:spcPts val="400"/>
              </a:spcBef>
              <a:defRPr sz="1050">
                <a:solidFill>
                  <a:srgbClr val="2D3748"/>
                </a:solidFill>
              </a:defRPr>
            </a:pPr>
            <a:r>
              <a:rPr sz="1200"/>
              <a:t>Measures the absolute magnitude of customer emotion and the neural softmax prediction confidence for enhanced model interpretability.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0" tIns="164592" rtlCol="0" anchor="ctr"/>
          <a:lstStyle/>
          <a:p>
            <a:pPr algn="l">
              <a:defRPr sz="1050" b="1">
                <a:solidFill>
                  <a:srgbClr val="2A9D8F"/>
                </a:solidFill>
                <a:latin typeface="Calibri"/>
              </a:defRPr>
            </a:pPr>
            <a:r>
              <a:rPr sz="1200"/>
              <a:t>WOMEN'S CLOTHING TRENDS &amp; ANALYSIS  |  TASK 2</a:t>
            </a:r>
          </a:p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sz="2800"/>
              <a:t>Validation: Sentiment Score vs Customer Star Ratings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94360" rIns="228600" rtlCol="0" anchor="ctr"/>
          <a:lstStyle/>
          <a:p>
            <a:pPr algn="ctr">
              <a:defRPr sz="1400" b="1">
                <a:solidFill>
                  <a:srgbClr val="1A365D"/>
                </a:solidFill>
                <a:latin typeface="Calibri"/>
              </a:defRPr>
            </a:pPr>
            <a:r>
              <a:t>Rating Correlation Insights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1A365D"/>
                </a:solidFill>
              </a:rPr>
              <a:t>Powerful Linear Relationship: </a:t>
            </a:r>
            <a:r>
              <a:rPr sz="1400">
                <a:solidFill>
                  <a:srgbClr val="2D3748"/>
                </a:solidFill>
              </a:rPr>
              <a:t>Calculated Pearson correlation of r = +0.7762 and Spearman rank correlation of r = +0.7810 between Sentiment Score and Star Ratings.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1A365D"/>
                </a:solidFill>
              </a:rPr>
              <a:t>Clear Monotonic Progression: </a:t>
            </a:r>
            <a:r>
              <a:rPr sz="1400">
                <a:solidFill>
                  <a:srgbClr val="2D3748"/>
                </a:solidFill>
              </a:rPr>
              <a:t>1-Star reviews average -0.62 in sentiment, 2-Star reviews average -0.28, 3-Star average +0.18, 4-Star average +0.65, and 5-Star average +0.81.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1A365D"/>
                </a:solidFill>
              </a:rPr>
              <a:t>Detecting Rating Mismatches: </a:t>
            </a:r>
            <a:r>
              <a:rPr sz="1400">
                <a:solidFill>
                  <a:srgbClr val="2D3748"/>
                </a:solidFill>
              </a:rPr>
              <a:t>Identifies reviews where customer gave 4 stars but text revealed major dissatisfaction, enabling automated quality auditing.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1A365D"/>
                </a:solidFill>
              </a:rPr>
              <a:t>Zero Overlap in Extreme Quartiles: </a:t>
            </a:r>
            <a:r>
              <a:rPr sz="1400">
                <a:solidFill>
                  <a:srgbClr val="2D3748"/>
                </a:solidFill>
              </a:rPr>
              <a:t>Interquartile ranges for 1-star and 5-star reviews exhibit complete separation, confirming high feature discriminability.</a:t>
            </a:r>
          </a:p>
        </p:txBody>
      </p:sp>
      <p:pic>
        <p:nvPicPr>
          <p:cNvPr id="4" name="Picture 3" descr="ppt_chart2_ra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1206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0" tIns="164592" rtlCol="0" anchor="ctr"/>
          <a:lstStyle/>
          <a:p>
            <a:pPr algn="l">
              <a:defRPr sz="1050" b="1">
                <a:solidFill>
                  <a:srgbClr val="2A9D8F"/>
                </a:solidFill>
                <a:latin typeface="Calibri"/>
              </a:defRPr>
            </a:pPr>
            <a:r>
              <a:rPr sz="1400"/>
              <a:t>WOMEN'S CLOTHING TRENDS &amp; ANALYSIS  |  TASK 2</a:t>
            </a:r>
          </a:p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sz="3200"/>
              <a:t>Departmental &amp; Apparel Category Sentiment Analysis</a:t>
            </a:r>
          </a:p>
        </p:txBody>
      </p:sp>
      <p:pic>
        <p:nvPicPr>
          <p:cNvPr id="3" name="Picture 2" descr="ppt_chart3_d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389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94360" rIns="228600" rtlCol="0" anchor="ctr"/>
          <a:lstStyle/>
          <a:p>
            <a:pPr algn="ctr">
              <a:defRPr sz="1400" b="1">
                <a:solidFill>
                  <a:srgbClr val="1A365D"/>
                </a:solidFill>
                <a:latin typeface="Calibri"/>
              </a:defRPr>
            </a:pPr>
            <a:r>
              <a:rPr sz="1600"/>
              <a:t>Key Departmental Findings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2B6CB0"/>
                </a:solidFill>
              </a:rPr>
              <a:t>Top Performing Departments: </a:t>
            </a:r>
            <a:r>
              <a:rPr sz="1600">
                <a:solidFill>
                  <a:srgbClr val="2D3748"/>
                </a:solidFill>
              </a:rPr>
              <a:t>Intimates (+0.641 avg score, 85.2% positive) and Bottoms (+0.638 avg score, 84.6% positive) achieve highest customer satisfaction.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2B6CB0"/>
                </a:solidFill>
              </a:rPr>
              <a:t>Dresses &amp; Tops Complexity: </a:t>
            </a:r>
            <a:r>
              <a:rPr sz="1600">
                <a:solidFill>
                  <a:srgbClr val="2D3748"/>
                </a:solidFill>
              </a:rPr>
              <a:t>Dresses (+0.598 avg score) and Tops (+0.612 avg score) exhibit higher variance and more fit-related negative reviews.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2B6CB0"/>
                </a:solidFill>
              </a:rPr>
              <a:t>Actionable Sizing Feedback: </a:t>
            </a:r>
            <a:r>
              <a:rPr sz="1600">
                <a:solidFill>
                  <a:srgbClr val="2D3748"/>
                </a:solidFill>
              </a:rPr>
              <a:t>NLP extracted specific recurring garment issues: 'waist gaping', 'tight armholes', and 'fabric too sheer' across lower-scoring dress lines.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2B6CB0"/>
                </a:solidFill>
              </a:rPr>
              <a:t>Assortment Optimization: </a:t>
            </a:r>
            <a:r>
              <a:rPr sz="1600">
                <a:solidFill>
                  <a:srgbClr val="2D3748"/>
                </a:solidFill>
              </a:rPr>
              <a:t>Merchandising teams can identify low-sentiment apparel classes before return rates spike.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0" tIns="164592" rtlCol="0" anchor="ctr"/>
          <a:lstStyle/>
          <a:p>
            <a:pPr algn="l">
              <a:defRPr sz="1050" b="1">
                <a:solidFill>
                  <a:srgbClr val="2A9D8F"/>
                </a:solidFill>
                <a:latin typeface="Calibri"/>
              </a:defRPr>
            </a:pPr>
            <a:r>
              <a:rPr sz="1200"/>
              <a:t>WOMEN'S CLOTHING TRENDS &amp; ANALYSIS  |  TASK 2</a:t>
            </a:r>
          </a:p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sz="2800"/>
              <a:t>Recommendation Behavior by Sentiment Cohort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94360" rIns="228600" rtlCol="0" anchor="ctr"/>
          <a:lstStyle/>
          <a:p>
            <a:pPr algn="ctr">
              <a:defRPr sz="1400" b="1">
                <a:solidFill>
                  <a:srgbClr val="1A365D"/>
                </a:solidFill>
                <a:latin typeface="Calibri"/>
              </a:defRPr>
            </a:pPr>
            <a:r>
              <a:t>Customer Advocacy Alignment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1A365D"/>
                </a:solidFill>
              </a:rPr>
              <a:t>Massive Advocacy Disparity: </a:t>
            </a:r>
            <a:r>
              <a:rPr sz="1400">
                <a:solidFill>
                  <a:srgbClr val="2D3748"/>
                </a:solidFill>
              </a:rPr>
              <a:t>94.2% of customers in the Positive Sentiment cohort recommend the product, compared to only 18.5% in the Negative cohort.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1A365D"/>
                </a:solidFill>
              </a:rPr>
              <a:t>Neutral Sentiment as Churn Risk: </a:t>
            </a:r>
            <a:r>
              <a:rPr sz="1400">
                <a:solidFill>
                  <a:srgbClr val="2D3748"/>
                </a:solidFill>
              </a:rPr>
              <a:t>Neutral sentiment reviews exhibit a 58.6% recommendation rate, representing borderline customers who need proactive engagement.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1A365D"/>
                </a:solidFill>
              </a:rPr>
              <a:t>High Statistical Correlation: </a:t>
            </a:r>
            <a:r>
              <a:rPr sz="1400">
                <a:solidFill>
                  <a:srgbClr val="2D3748"/>
                </a:solidFill>
              </a:rPr>
              <a:t>Engineered sentiment score correlates r = +0.712 with the binary 'Recommended IND' field.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1A365D"/>
                </a:solidFill>
              </a:rPr>
              <a:t>Business Application: </a:t>
            </a:r>
            <a:r>
              <a:rPr sz="1400">
                <a:solidFill>
                  <a:srgbClr val="2D3748"/>
                </a:solidFill>
              </a:rPr>
              <a:t>Enables immediate automated tagging of brand promoters vs detractors from raw review text.</a:t>
            </a:r>
          </a:p>
        </p:txBody>
      </p:sp>
      <p:pic>
        <p:nvPicPr>
          <p:cNvPr id="4" name="Picture 3" descr="ppt_chart4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1206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0" tIns="164592" rtlCol="0" anchor="ctr"/>
          <a:lstStyle/>
          <a:p>
            <a:pPr algn="l">
              <a:defRPr sz="1050" b="1">
                <a:solidFill>
                  <a:srgbClr val="2A9D8F"/>
                </a:solidFill>
                <a:latin typeface="Calibri"/>
              </a:defRPr>
            </a:pPr>
            <a:r>
              <a:rPr sz="1600"/>
              <a:t>WOMEN'S CLOTHING TRENDS &amp; ANALYSIS  |  TASK 2</a:t>
            </a:r>
          </a:p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sz="3600"/>
              <a:t>Business Applications &amp; Production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219456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28600" rtlCol="0" anchor="ctr"/>
          <a:lstStyle/>
          <a:p>
            <a:pPr algn="ctr">
              <a:defRPr sz="1200" b="1">
                <a:solidFill>
                  <a:srgbClr val="2A9D8F"/>
                </a:solidFill>
              </a:defRPr>
            </a:pPr>
            <a:r>
              <a:rPr sz="1400"/>
              <a:t>USE CASE 1: E-COMMERCE PRODUCT RANKING</a:t>
            </a:r>
          </a:p>
          <a:p>
            <a:pPr>
              <a:spcBef>
                <a:spcPts val="800"/>
              </a:spcBef>
              <a:defRPr sz="1050">
                <a:solidFill>
                  <a:srgbClr val="2D3748"/>
                </a:solidFill>
              </a:defRPr>
            </a:pPr>
            <a:r>
              <a:rPr sz="1600"/>
              <a:t>Incorporate normalized sentiment scores into search &amp; catalog ranking algorithms to surface garments with verified customer delight.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371600"/>
            <a:ext cx="5212080" cy="219456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28600" rtlCol="0" anchor="ctr"/>
          <a:lstStyle/>
          <a:p>
            <a:pPr algn="ctr">
              <a:defRPr sz="1200" b="1">
                <a:solidFill>
                  <a:srgbClr val="2A9D8F"/>
                </a:solidFill>
              </a:defRPr>
            </a:pPr>
            <a:r>
              <a:rPr sz="1400"/>
              <a:t>USE CASE 2: CUSTOMER CHURN &amp; RETURNS EARLY WARNING</a:t>
            </a:r>
          </a:p>
          <a:p>
            <a:pPr>
              <a:spcBef>
                <a:spcPts val="800"/>
              </a:spcBef>
              <a:defRPr sz="1050">
                <a:solidFill>
                  <a:srgbClr val="2D3748"/>
                </a:solidFill>
              </a:defRPr>
            </a:pPr>
            <a:r>
              <a:rPr sz="1600"/>
              <a:t>Detect sudden drops in review sentiment for newly launched apparel lines before high product return rates hurt revenue.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28600" rtlCol="0" anchor="ctr"/>
          <a:lstStyle/>
          <a:p>
            <a:pPr algn="ctr">
              <a:defRPr sz="1200" b="1">
                <a:solidFill>
                  <a:srgbClr val="2A9D8F"/>
                </a:solidFill>
              </a:defRPr>
            </a:pPr>
            <a:r>
              <a:rPr sz="1400"/>
              <a:t>USE CASE 3: AUTOMATED FIT &amp; QUALITY DIAGNOSTICS</a:t>
            </a:r>
          </a:p>
          <a:p>
            <a:pPr>
              <a:spcBef>
                <a:spcPts val="800"/>
              </a:spcBef>
              <a:defRPr sz="1050">
                <a:solidFill>
                  <a:srgbClr val="2D3748"/>
                </a:solidFill>
              </a:defRPr>
            </a:pPr>
            <a:r>
              <a:rPr sz="1600"/>
              <a:t>Extract negative sentiment phrases to alert garment manufacturing and design teams about sizing inconsistencies.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840480"/>
            <a:ext cx="5212080" cy="219456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28600" rtlCol="0" anchor="ctr"/>
          <a:lstStyle/>
          <a:p>
            <a:pPr algn="ctr">
              <a:defRPr sz="1200" b="1">
                <a:solidFill>
                  <a:srgbClr val="2A9D8F"/>
                </a:solidFill>
              </a:defRPr>
            </a:pPr>
            <a:r>
              <a:rPr sz="1400"/>
              <a:t>USE CASE 4: ENHANCED DOWNSTREAM ML PIPELINES</a:t>
            </a:r>
          </a:p>
          <a:p>
            <a:pPr>
              <a:spcBef>
                <a:spcPts val="800"/>
              </a:spcBef>
              <a:defRPr sz="1050">
                <a:solidFill>
                  <a:srgbClr val="2D3748"/>
                </a:solidFill>
              </a:defRPr>
            </a:pPr>
            <a:r>
              <a:rPr sz="1600"/>
              <a:t>Provides clean continuous features for customer lifetime value (LTV) models, style clustering, and personalized recommender systems.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0" tIns="164592" rtlCol="0" anchor="ctr"/>
          <a:lstStyle/>
          <a:p>
            <a:pPr algn="l">
              <a:defRPr sz="1050" b="1">
                <a:solidFill>
                  <a:srgbClr val="2A9D8F"/>
                </a:solidFill>
                <a:latin typeface="Calibri"/>
              </a:defRPr>
            </a:pPr>
            <a:r>
              <a:rPr sz="1400"/>
              <a:t>WOMEN'S CLOTHING TRENDS &amp; ANALYSIS  |  TASK 2</a:t>
            </a:r>
          </a:p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sz="3200"/>
              <a:t>Project Summary &amp; Verification Checklist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502920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320040" rtlCol="0" anchor="ctr"/>
          <a:lstStyle/>
          <a:p>
            <a:pPr algn="ctr">
              <a:defRPr sz="1600" b="1">
                <a:solidFill>
                  <a:srgbClr val="1A365D"/>
                </a:solidFill>
              </a:defRPr>
            </a:pPr>
            <a:r>
              <a:t>Task 2 Summary of Key Achievements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2B6CB0"/>
                </a:solidFill>
              </a:rPr>
              <a:t>1. High-Performance NLP Modeling: </a:t>
            </a:r>
            <a:r>
              <a:rPr sz="1600">
                <a:solidFill>
                  <a:srgbClr val="2D3748"/>
                </a:solidFill>
              </a:rPr>
              <a:t>Fine-tuned PyTorch BiLSTM with Attention achieved 84.01% test accuracy and r = +0.776 rating correlation in ensemble.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2B6CB0"/>
                </a:solidFill>
              </a:rPr>
              <a:t>2. Multi-Scale Normalization: </a:t>
            </a:r>
            <a:r>
              <a:rPr sz="1600">
                <a:solidFill>
                  <a:srgbClr val="2D3748"/>
                </a:solidFill>
              </a:rPr>
              <a:t>Engineered continuous Raw [-1, 1], MinMax [0, 1], Standardized Z-scores, and discrete 3-tier sentiment cohorts.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2B6CB0"/>
                </a:solidFill>
              </a:rPr>
              <a:t>3. Master Dataset Integration: </a:t>
            </a:r>
            <a:r>
              <a:rPr sz="1600">
                <a:solidFill>
                  <a:srgbClr val="2D3748"/>
                </a:solidFill>
              </a:rPr>
              <a:t>Exported 23,486 records with new sentiment features to 'womens_clothing_sentiment_features.csv'.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2B6CB0"/>
                </a:solidFill>
              </a:rPr>
              <a:t>4. Comprehensive Reporting: </a:t>
            </a:r>
            <a:r>
              <a:rPr sz="1600">
                <a:solidFill>
                  <a:srgbClr val="2D3748"/>
                </a:solidFill>
              </a:rPr>
              <a:t>Generated complete professional Word report (.docx) and summary CSVs across departments, models, and correlations.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2B6CB0"/>
                </a:solidFill>
              </a:rPr>
              <a:t>5. Code Hygiene &amp; Verification: </a:t>
            </a:r>
            <a:r>
              <a:rPr sz="1600">
                <a:solidFill>
                  <a:srgbClr val="2D3748"/>
                </a:solidFill>
              </a:rPr>
              <a:t>Jupyter Notebook (Task 2.ipynb) fully executed with 0 syntax errors, 0 comments/docstrings, and all imports in Cell 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1814</Words>
  <Application>Microsoft Office PowerPoint</Application>
  <PresentationFormat>Widescreen</PresentationFormat>
  <Paragraphs>122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 panchal</cp:lastModifiedBy>
  <cp:revision>6</cp:revision>
  <dcterms:created xsi:type="dcterms:W3CDTF">2013-01-27T09:14:16Z</dcterms:created>
  <dcterms:modified xsi:type="dcterms:W3CDTF">2026-08-25T18:57:59Z</dcterms:modified>
  <cp:category/>
</cp:coreProperties>
</file>